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Filtrado Digital FIR/IIR asistido por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Aplicación: Electrocardiograma (ECG)</a:t>
            </a:r>
          </a:p>
          <a:p>
            <a:pPr lvl="0" indent="0" marL="0">
              <a:buNone/>
            </a:pPr>
            <a:r>
              <a:rPr b="1"/>
              <a:t>Técnicas Digitales III — PDS / Filtrado Digital (2026)</a:t>
            </a:r>
            <a:r>
              <a:rPr/>
              <a:t> Examen Parcial Integrador — Evaluación Basada en Problemas</a:t>
            </a:r>
          </a:p>
          <a:p>
            <a:pPr lvl="0"/>
            <a:r>
              <a:rPr b="1"/>
              <a:t>Grupo:</a:t>
            </a:r>
            <a:r>
              <a:rPr/>
              <a:t> </a:t>
            </a:r>
            <a:r>
              <a:rPr i="1"/>
              <a:t>[Nombre del grupo]</a:t>
            </a:r>
          </a:p>
          <a:p>
            <a:pPr lvl="0"/>
            <a:r>
              <a:rPr b="1"/>
              <a:t>Integrantes:</a:t>
            </a:r>
            <a:r>
              <a:rPr/>
              <a:t> </a:t>
            </a:r>
            <a:r>
              <a:rPr i="1"/>
              <a:t>[Apellido, Nombre]</a:t>
            </a:r>
            <a:r>
              <a:rPr/>
              <a:t> · </a:t>
            </a:r>
            <a:r>
              <a:rPr i="1"/>
              <a:t>[Apellido, Nombre]</a:t>
            </a:r>
            <a:r>
              <a:rPr/>
              <a:t> · </a:t>
            </a:r>
            <a:r>
              <a:rPr i="1"/>
              <a:t>[Apellido, Nombre]</a:t>
            </a:r>
          </a:p>
          <a:p>
            <a:pPr lvl="0"/>
            <a:r>
              <a:rPr b="1"/>
              <a:t>Docente:</a:t>
            </a:r>
            <a:r>
              <a:rPr/>
              <a:t> </a:t>
            </a:r>
            <a:r>
              <a:rPr i="1"/>
              <a:t>[Nombre]</a:t>
            </a:r>
            <a:r>
              <a:rPr/>
              <a:t> — </a:t>
            </a:r>
            <a:r>
              <a:rPr b="1"/>
              <a:t>Fecha:</a:t>
            </a:r>
            <a:r>
              <a:rPr/>
              <a:t> </a:t>
            </a:r>
            <a:r>
              <a:rPr i="1"/>
              <a:t>[dd/mm/2026]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Problema: el ECG real está contaminado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</a:t>
            </a:r>
            <a:r>
              <a:rPr b="1"/>
              <a:t>ECG</a:t>
            </a:r>
            <a:r>
              <a:rPr/>
              <a:t> registra la actividad eléctrica cardíaca; el diagnóstico depende del complejo </a:t>
            </a:r>
            <a:r>
              <a:rPr b="1"/>
              <a:t>P-QRS-T</a:t>
            </a:r>
            <a:r>
              <a:rPr/>
              <a:t> (amplitudes y tiempos relativos).</a:t>
            </a:r>
          </a:p>
          <a:p>
            <a:pPr lvl="0"/>
            <a:r>
              <a:rPr/>
              <a:t>Banda diagnóstica útil: </a:t>
            </a:r>
            <a:r>
              <a:rPr b="1"/>
              <a:t>0.5 – 40 Hz</a:t>
            </a:r>
            <a:r>
              <a:rPr/>
              <a:t>.</a:t>
            </a:r>
          </a:p>
          <a:p>
            <a:pPr lvl="0"/>
            <a:r>
              <a:rPr/>
              <a:t>Dos perturbaciones dominantes:</a:t>
            </a:r>
          </a:p>
          <a:p>
            <a:pPr lvl="1"/>
            <a:r>
              <a:rPr b="1"/>
              <a:t>Interferencia de red eléctrica a 50 Hz</a:t>
            </a:r>
            <a:r>
              <a:rPr/>
              <a:t> (acoplamiento capacitivo) → pico espectral agudo.</a:t>
            </a:r>
          </a:p>
          <a:p>
            <a:pPr lvl="1"/>
            <a:r>
              <a:rPr b="1"/>
              <a:t>Ruido EMG</a:t>
            </a:r>
            <a:r>
              <a:rPr/>
              <a:t> (actividad muscular) → contaminación de </a:t>
            </a:r>
            <a:r>
              <a:rPr b="1"/>
              <a:t>banda ancha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[Figura: ECG limpio vs ECG contaminado con 50 Hz + EMG]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Motivación: por qué importa la morfología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Filtrar mal </a:t>
                </a:r>
                <a:r>
                  <a:rPr b="1"/>
                  <a:t>deforma</a:t>
                </a:r>
                <a:r>
                  <a:rPr/>
                  <a:t> las ondas y altera la interpretación clínica.</a:t>
                </a:r>
              </a:p>
              <a:p>
                <a:pPr lvl="0"/>
                <a:r>
                  <a:rPr/>
                  <a:t>Requisito crítico: </a:t>
                </a:r>
                <a:r>
                  <a:rPr b="1"/>
                  <a:t>preservar la morfología</a:t>
                </a:r>
                <a:r>
                  <a:rPr/>
                  <a:t> → se exige </a:t>
                </a:r>
                <a:r>
                  <a:rPr b="1"/>
                  <a:t>fase lineal</a:t>
                </a:r>
                <a:r>
                  <a:rPr/>
                  <a:t> en la banda útil (retardo constante, sin distorsión de forma).</a:t>
                </a:r>
              </a:p>
              <a:p>
                <a:pPr lvl="0"/>
                <a:r>
                  <a:rPr b="1"/>
                  <a:t>Estrategia mixta</a:t>
                </a:r>
                <a:r>
                  <a:rPr/>
                  <a:t> elegida (Anexo A):</a:t>
                </a:r>
              </a:p>
              <a:p>
                <a:pPr lvl="1"/>
                <a:r>
                  <a:rPr b="1"/>
                  <a:t>Notch IIR de 50 Hz</a:t>
                </a:r>
                <a:r>
                  <a:rPr/>
                  <a:t> → barato, 1 biquad, elimina la red.</a:t>
                </a:r>
              </a:p>
              <a:p>
                <a:pPr lvl="1"/>
                <a:r>
                  <a:rPr b="1"/>
                  <a:t>Paso-bajos FIR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  <a:r>
                  <a:rPr b="1"/>
                  <a:t> Hz</a:t>
                </a:r>
                <a:r>
                  <a:rPr/>
                  <a:t> → fase lineal, preserva P-QRS-T.</a:t>
                </a:r>
              </a:p>
              <a:p>
                <a:pPr lvl="0" indent="0" marL="1270000">
                  <a:buNone/>
                </a:pPr>
                <a:r>
                  <a:rPr sz="2000"/>
                  <a:t>El agente de IA recomienda </a:t>
                </a:r>
                <a:r>
                  <a:rPr sz="2000" b="1"/>
                  <a:t>FIR por fase lineal</a:t>
                </a:r>
                <a:r>
                  <a:rPr sz="2000"/>
                  <a:t> para el LP principal.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Cadena de procesamiento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Notch IIR </m:t>
                          </m:r>
                          <m:r>
                            <m:t>50</m:t>
                          </m:r>
                          <m:r>
                            <m:rPr>
                              <m:nor/>
                              <m:sty m:val="p"/>
                            </m:rPr>
                            <m:t> Hz</m:t>
                          </m:r>
                        </m:e>
                      </m:borderBox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LP FIR 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40</m:t>
                          </m:r>
                          <m:r>
                            <m:rPr>
                              <m:nor/>
                              <m:sty m:val="p"/>
                            </m:rPr>
                            <m:t> Hz</m:t>
                          </m:r>
                        </m:e>
                      </m:borderBox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acc>
                        <m:accPr>
                          <m:chr m:val="̂"/>
                        </m:accPr>
                        <m:e>
                          <m: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/>
                <a:r>
                  <a:rPr b="1"/>
                  <a:t>Etapa 1 — Notch IIR (2.º orden):</a:t>
                </a:r>
                <a:r>
                  <a:rPr/>
                  <a:t> rechaza la red de 50 Hz sin tocar la banda útil.</a:t>
                </a:r>
              </a:p>
              <a:p>
                <a:pPr lvl="0"/>
                <a:r>
                  <a:rPr b="1"/>
                  <a:t>Etapa 2 — LP FIR fase lineal:</a:t>
                </a:r>
                <a:r>
                  <a:rPr/>
                  <a:t> atenúa EMG y todo lo que supera 40 Hz, manteniendo retardo constante.</a:t>
                </a:r>
              </a:p>
              <a:p>
                <a:pPr lvl="0" indent="0" marL="0">
                  <a:buNone/>
                </a:pPr>
                <a:r>
                  <a:rPr/>
                  <a:t>[Figura: diagrama de bloques de la cadena Notch IIR + LP FIR]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Análisis de la señal y muestreo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Banda útil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  <a:r>
                  <a:rPr/>
                  <a:t> Hz → </a:t>
                </a:r>
                <a:r>
                  <a:rPr b="1"/>
                  <a:t>Nyquist mínima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2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80</m:t>
                    </m:r>
                  </m:oMath>
                </a14:m>
                <a:r>
                  <a:rPr/>
                  <a:t> Hz.</a:t>
                </a:r>
              </a:p>
              <a:p>
                <a:pPr lvl="0"/>
                <a:r>
                  <a:rPr/>
                  <a:t>Se elige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500</m:t>
                    </m:r>
                  </m:oMath>
                </a14:m>
                <a:r>
                  <a:rPr/>
                  <a:t> Hz → </a:t>
                </a:r>
                <a:r>
                  <a:rPr b="1"/>
                  <a:t>sobremuestreo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:</a:t>
                </a:r>
              </a:p>
              <a:p>
                <a:pPr lvl="1"/>
                <a:r>
                  <a:rPr/>
                  <a:t>Banda de transición amplia para el anti-aliasing analógico.</a:t>
                </a:r>
              </a:p>
              <a:p>
                <a:pPr lvl="1"/>
                <a:r>
                  <a:rPr/>
                  <a:t>La red de 50 Hz queda muy por debajo de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250</m:t>
                    </m:r>
                  </m:oMath>
                </a14:m>
                <a:r>
                  <a:rPr/>
                  <a:t> Hz (se muestrea </a:t>
                </a:r>
                <a:r>
                  <a:rPr b="1"/>
                  <a:t>sin alias</a:t>
                </a:r>
                <a:r>
                  <a:rPr/>
                  <a:t> y se filtra con notch).</a:t>
                </a:r>
              </a:p>
              <a:p>
                <a:pPr lvl="1"/>
                <a:r>
                  <a:rPr/>
                  <a:t>Mejor resolución temporal del QRS.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ω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  <m:r>
                            <m:t>π</m:t>
                          </m:r>
                          <m:r>
                            <m:t>f</m:t>
                          </m:r>
                        </m:num>
                        <m:den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250</m:t>
                      </m:r>
                      <m:r>
                        <m:t> </m:t>
                      </m:r>
                      <m:r>
                        <m:rPr>
                          <m:nor/>
                          <m:sty m:val="p"/>
                        </m:rPr>
                        <m:t>Hz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alias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r>
                            <m:rPr>
                              <m:sty m:val="p"/>
                            </m:rPr>
                            <m:t>round</m:t>
                          </m:r>
                          <m:r>
                            <m:t>​</m:t>
                          </m:r>
                          <m:f>
                            <m:fPr>
                              <m:type m:val="lin"/>
                            </m:fPr>
                            <m:num>
                              <m:sSub>
                                <m:e>
                                  <m:r>
                                    <m:t>f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m:t>f</m:t>
                                  </m:r>
                                </m:e>
                                <m:sub>
                                  <m:r>
                                    <m:t>s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Especificaciones técnicas</a:t></a:r></a:p></p:txBody></p:sp><mc:AlternateContent xmlns:mc="http://schemas.openxmlformats.org/markup-compatibility/2006"><mc:Choice xmlns:a14="http://schemas.microsoft.com/office/drawing/2010/main" Requires="a14"><p:sp><p:nvSpPr><p:cNvPr id="4" name="Text Placeholder 3" /><p:cNvSpPr><a:spLocks noGrp="1" /></p:cNvSpPr><p:nvPr><p:ph idx="2" sz="half" type="body" /></p:nvPr></p:nvSpPr><p:spPr /><p:txBody><a:bodyPr /><a:lstStyle /><a:p><a:pPr lvl="0" indent="0" marL="1270000"><a:buNone /></a:pPr><a:r><a:rPr sz="2000" /><a:t>Para el ejemplo IIR comparativo se usa la máscara </a:t></a:r><a14:m><m:oMath xmlns:m="http://schemas.openxmlformats.org/officeDocument/2006/math"><m:sSub><m:e><m:r><m:t>f</m:t></m:r></m:e><m:sub><m:r><m:t>p</m:t></m:r></m:sub></m:sSub><m:r><m:rPr><m:sty m:val="p" /></m:rPr><m:t>=</m:t></m:r><m:r><m:t>40</m:t></m:r></m:oMath></a14:m><a:r><a:rPr sz="2000" /><a:t>, </a:t></a:r><a14:m><m:oMath xmlns:m="http://schemas.openxmlformats.org/officeDocument/2006/math"><m:sSub><m:e><m:r><m:t>f</m:t></m:r></m:e><m:sub><m:r><m:t>r</m:t></m:r></m:sub></m:sSub><m:r><m:rPr><m:sty m:val="p" /></m:rPr><m:t>=</m:t></m:r><m:r><m:t>60</m:t></m:r></m:oMath></a14:m><a:r><a:rPr sz="2000" /><a:t>, </a:t></a:r><a14:m><m:oMath xmlns:m="http://schemas.openxmlformats.org/officeDocument/2006/math"><m:sSub><m:e><m:r><m:t>R</m:t></m:r></m:e><m:sub><m:r><m:t>p</m:t></m:r></m:sub></m:sSub><m:r><m:rPr><m:sty m:val="p" /></m:rPr><m:t>=</m:t></m:r><m:r><m:t>1</m:t></m:r></m:oMath></a14:m><a:r><a:rPr sz="2000" /><a:t> dB, </a:t></a:r><a14:m><m:oMath xmlns:m="http://schemas.openxmlformats.org/officeDocument/2006/math"><m:sSub><m:e><m:r><m:t>A</m:t></m:r></m:e><m:sub><m:r><m:t>s</m:t></m:r></m:sub></m:sSub><m:r><m:rPr><m:sty m:val="p" /></m:rPr><m:t>=</m:t></m:r><m:r><m:t>40</m:t></m:r></m:oMath></a14:m><a:r><a:rPr sz="2000" /><a:t> dB.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270000" /><a:gridCol w="1270000" /><a:gridCol w="1270000" /><a:gridCol w="1270000" /></a:tblGrid><a:tr h="0"><a:tc><a:txBody><a:bodyPr /><a:lstStyle /><a:p><a:pPr lvl="0" indent="0" marL="0"><a:buNone /></a:pPr><a:r><a:rPr /><a:t>Símbolo</a:t></a:r></a:p></a:txBody><a:tcPr /></a:tc><a:tc><a:txBody><a:bodyPr /><a:lstStyle /><a:p><a:pPr lvl="0" indent="0" marL="0"><a:buNone /></a:pPr><a:r><a:rPr /><a:t>Significado</a:t></a:r></a:p></a:txBody><a:tcPr /></a:tc><a:tc><a:txBody><a:bodyPr /><a:lstStyle /><a:p><a:pPr lvl="0" indent="0" marL="0"><a:buNone /></a:pPr><a:r><a:rPr /><a:t>LP FIR</a:t></a:r></a:p></a:txBody><a:tcPr /></a:tc><a:tc><a:txBody><a:bodyPr /><a:lstStyle /><a:p><a:pPr lvl="0" indent="0" marL="0"><a:buNone /></a:pPr><a:r><a:rPr /><a:t>Notch / IIR</a:t></a:r></a:p></a:txBody><a:tcPr /></a:tc></a:tr><a:tr h="0"><a:tc><a:txBody><a:bodyPr /><a:lstStyle /><a:p><a:pPr lvl="0" indent="0" marL="0"><a:buNone /></a:pPr><a14:m><m:oMath xmlns:m="http://schemas.openxmlformats.org/officeDocument/2006/math"><m:sSub><m:e><m:r><m:t>f</m:t></m:r></m:e><m:sub><m:r><m:t>s</m:t></m:r></m:sub></m:sSub></m:oMath></a14:m></a:p></a:txBody></a:tc><a:tc><a:txBody><a:bodyPr /><a:lstStyle /><a:p><a:pPr lvl="0" indent="0" marL="0"><a:buNone /></a:pPr><a:r><a:rPr /><a:t>Frecuencia de muestreo</a:t></a:r></a:p></a:txBody></a:tc><a:tc><a:txBody><a:bodyPr /><a:lstStyle /><a:p><a:pPr lvl="0" indent="0" marL="0"><a:buNone /></a:pPr><a:r><a:rPr /><a:t>500 Hz</a:t></a:r></a:p></a:txBody></a:tc><a:tc><a:txBody><a:bodyPr /><a:lstStyle /><a:p><a:pPr lvl="0" indent="0" marL="0"><a:buNone /></a:pPr><a:r><a:rPr /><a:t>500 Hz</a:t></a:r></a:p></a:txBody></a:tc></a:tr><a:tr h="0"><a:tc><a:txBody><a:bodyPr /><a:lstStyle /><a:p><a:pPr lvl="0" indent="0" marL="0"><a:buNone /></a:pPr><a14:m><m:oMath xmlns:m="http://schemas.openxmlformats.org/officeDocument/2006/math"><m:sSub><m:e><m:r><m:t>f</m:t></m:r></m:e><m:sub><m:r><m:t>p</m:t></m:r></m:sub></m:sSub></m:oMath></a14:m></a:p></a:txBody></a:tc><a:tc><a:txBody><a:bodyPr /><a:lstStyle /><a:p><a:pPr lvl="0" indent="0" marL="0"><a:buNone /></a:pPr><a:r><a:rPr /><a:t>Borde de banda de paso</a:t></a:r></a:p></a:txBody></a:tc><a:tc><a:txBody><a:bodyPr /><a:lstStyle /><a:p><a:pPr lvl="0" indent="0" marL="0"><a:buNone /></a:pPr><a:r><a:rPr /><a:t>40 Hz</a:t></a:r></a:p></a:txBody></a:tc><a:tc><a:txBody><a:bodyPr /><a:lstStyle /><a:p><a:pPr lvl="0" indent="0" marL="0"><a:buNone /></a:pPr><a:r><a:rPr /><a:t>—</a:t></a:r></a:p></a:txBody></a:tc></a:tr><a:tr h="0"><a:tc><a:txBody><a:bodyPr /><a:lstStyle /><a:p><a:pPr lvl="0" indent="0" marL="0"><a:buNone /></a:pPr><a14:m><m:oMath xmlns:m="http://schemas.openxmlformats.org/officeDocument/2006/math"><m:sSub><m:e><m:r><m:t>f</m:t></m:r></m:e><m:sub><m:r><m:t>r</m:t></m:r></m:sub></m:sSub></m:oMath></a14:m></a:p></a:txBody></a:tc><a:tc><a:txBody><a:bodyPr /><a:lstStyle /><a:p><a:pPr lvl="0" indent="0" marL="0"><a:buNone /></a:pPr><a:r><a:rPr /><a:t>Borde de banda de rechazo</a:t></a:r></a:p></a:txBody></a:tc><a:tc><a:txBody><a:bodyPr /><a:lstStyle /><a:p><a:pPr lvl="0" indent="0" marL="0"><a:buNone /></a:pPr><a:r><a:rPr /><a:t>50 Hz</a:t></a:r></a:p></a:txBody></a:tc><a:tc><a:txBody><a:bodyPr /><a:lstStyle /><a:p><a:pPr lvl="0" indent="0" marL="0"><a:buNone /></a:pPr><a14:m><m:oMath xmlns:m="http://schemas.openxmlformats.org/officeDocument/2006/math"><m:sSub><m:e><m:r><m:t>f</m:t></m:r></m:e><m:sub><m:r><m:t>0</m:t></m:r></m:sub></m:sSub><m:r><m:rPr><m:sty m:val="p" /></m:rPr><m:t>=</m:t></m:r><m:r><m:t>50</m:t></m:r></m:oMath></a14:m><a:r><a:rPr /><a:t> Hz</a:t></a:r></a:p></a:txBody></a:tc></a:tr><a:tr h="0"><a:tc><a:txBody><a:bodyPr /><a:lstStyle /><a:p><a:pPr lvl="0" indent="0" marL="0"><a:buNone /></a:pPr><a14:m><m:oMath xmlns:m="http://schemas.openxmlformats.org/officeDocument/2006/math"><m:sSub><m:e><m:r><m:t>R</m:t></m:r></m:e><m:sub><m:r><m:t>p</m:t></m:r></m:sub></m:sSub></m:oMath></a14:m></a:p></a:txBody></a:tc><a:tc><a:txBody><a:bodyPr /><a:lstStyle /><a:p><a:pPr lvl="0" indent="0" marL="0"><a:buNone /></a:pPr><a:r><a:rPr /><a:t>Rizado de paso</a:t></a:r></a:p></a:txBody></a:tc><a:tc><a:txBody><a:bodyPr /><a:lstStyle /><a:p><a:pPr lvl="0" indent="0" marL="0"><a:buNone /></a:pPr><a14:m><m:oMath xmlns:m="http://schemas.openxmlformats.org/officeDocument/2006/math"><m:r><m:rPr><m:sty m:val="p" /></m:rPr><m:t>≤</m:t></m:r><m:r><m:t>1</m:t></m:r></m:oMath></a14:m><a:r><a:rPr /><a:t> dB</a:t></a:r></a:p></a:txBody></a:tc><a:tc><a:txBody><a:bodyPr /><a:lstStyle /><a:p><a:pPr lvl="0" indent="0" marL="0"><a:buNone /></a:pPr><a:r><a:rPr /><a:t>—</a:t></a:r></a:p></a:txBody></a:tc></a:tr><a:tr h="0"><a:tc><a:txBody><a:bodyPr /><a:lstStyle /><a:p><a:pPr lvl="0" indent="0" marL="0"><a:buNone /></a:pPr><a14:m><m:oMath xmlns:m="http://schemas.openxmlformats.org/officeDocument/2006/math"><m:sSub><m:e><m:r><m:t>A</m:t></m:r></m:e><m:sub><m:r><m:t>s</m:t></m:r></m:sub></m:sSub></m:oMath></a14:m></a:p></a:txBody></a:tc><a:tc><a:txBody><a:bodyPr /><a:lstStyle /><a:p><a:pPr lvl="0" indent="0" marL="0"><a:buNone /></a:pPr><a:r><a:rPr /><a:t>Atenuación de rechazo</a:t></a:r></a:p></a:txBody></a:tc><a:tc><a:txBody><a:bodyPr /><a:lstStyle /><a:p><a:pPr lvl="0" indent="0" marL="0"><a:buNone /></a:pPr><a14:m><m:oMath xmlns:m="http://schemas.openxmlformats.org/officeDocument/2006/math"><m:r><m:rPr><m:sty m:val="p" /></m:rPr><m:t>≈</m:t></m:r><m:r><m:t>53</m:t></m:r></m:oMath></a14:m><a:r><a:rPr /><a:t> dB (Hamming)</a:t></a:r></a:p></a:txBody></a:tc><a:tc><a:txBody><a:bodyPr /><a:lstStyle /><a:p><a:pPr lvl="0" indent="0" marL="0"><a:buNone /></a:pPr><a:r><a:rPr /><a:t>—</a:t></a:r></a:p></a:txBody></a:tc></a:tr><a:tr h="0"><a:tc><a:txBody><a:bodyPr /><a:lstStyle /><a:p><a:pPr lvl="0" indent="0" marL="0"><a:buNone /></a:pPr><a:r><a:rPr /><a:t>Fase</a:t></a:r></a:p></a:txBody></a:tc><a:tc><a:txBody><a:bodyPr /><a:lstStyle /><a:p><a:pPr lvl="0" indent="0" marL="0"><a:buNone /></a:pPr><a:r><a:rPr /><a:t>—</a:t></a:r></a:p></a:txBody></a:tc><a:tc><a:txBody><a:bodyPr /><a:lstStyle /><a:p><a:pPr lvl="0" indent="0" marL="0"><a:buNone /></a:pPr><a:r><a:rPr b="1" /><a:t>Lineal (exigida)</a:t></a:r></a:p></a:txBody></a:tc><a:tc><a:txBody><a:bodyPr /><a:lstStyle /><a:p><a:pPr lvl="0" indent="0" marL="0"><a:buNone /></a:pPr><a:r><a:rPr /><a:t>No crítica</a:t></a:r></a:p></a:txBody></a:tc></a:tr></a:tbl></a:graphicData></a:graphic></p:graphicFrame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Tipo de filtro y decisión preliminar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Tipo:</a:t>
                </a:r>
                <a:r>
                  <a:rPr/>
                  <a:t> paso-bajos (LP) para EMG + rechaza-banda (notch) para la red.</a:t>
                </a:r>
              </a:p>
              <a:p>
                <a:pPr lvl="0"/>
                <a:r>
                  <a:rPr b="1"/>
                  <a:t>Fase lineal: SÍ</a:t>
                </a:r>
                <a:r>
                  <a:rPr/>
                  <a:t> (diagnóstico). → favorece </a:t>
                </a:r>
                <a:r>
                  <a:rPr b="1"/>
                  <a:t>FIR</a:t>
                </a:r>
                <a:r>
                  <a:rPr/>
                  <a:t>.</a:t>
                </a:r>
              </a:p>
              <a:p>
                <a:pPr lvl="0"/>
                <a:r>
                  <a:rPr/>
                  <a:t>Plataforma objetivo </a:t>
                </a:r>
                <a:r>
                  <a:rPr b="1"/>
                  <a:t>ESP32</a:t>
                </a:r>
                <a:r>
                  <a:rPr/>
                  <a:t> (FPU, RAM abundante) → admite </a:t>
                </a:r>
                <a:r>
                  <a:rPr b="1"/>
                  <a:t>FIR de orden alto en float32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N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d</m:t>
                          </m:r>
                          <m:r>
                            <m:rPr>
                              <m:sty m:val="p"/>
                            </m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10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  <m:sub>
                          <m:r>
                            <m:t>10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n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m:t>s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n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acc>
                            <m:accPr>
                              <m:chr m:val="̂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rPr>
                          <m:sty m:val="p"/>
                        </m:rPr>
                        <m:t>R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lin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n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acc>
                            <m:accPr>
                              <m:chr m:val="̂"/>
                            </m:accPr>
                            <m:e>
                              <m:r>
                                <m:t>s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Ejemplo: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</m:t>
                    </m:r>
                    <m:r>
                      <m:rPr>
                        <m:sty m:val="p"/>
                      </m:rP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m:t>i</m:t>
                        </m:r>
                        <m:r>
                          <m:rPr>
                            <m:sty m:val="p"/>
                          </m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6</m:t>
                    </m:r>
                  </m:oMath>
                </a14:m>
                <a:r>
                  <a:rPr/>
                  <a:t> dB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</m:t>
                    </m:r>
                    <m:r>
                      <m:rPr>
                        <m:sty m:val="p"/>
                      </m:rP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m:t>o</m:t>
                        </m:r>
                        <m:r>
                          <m:rPr>
                            <m:sty m:val="p"/>
                          </m:rPr>
                          <m:t>u</m:t>
                        </m:r>
                        <m:r>
                          <m:rPr>
                            <m:sty m:val="p"/>
                          </m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20</m:t>
                    </m:r>
                  </m:oMath>
                </a14:m>
                <a:r>
                  <a:rPr/>
                  <a:t> dB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rPr>
                        <m:sty m:val="p"/>
                      </m:rPr>
                      <m:t>S</m:t>
                    </m:r>
                    <m:r>
                      <m:rPr>
                        <m:sty m:val="p"/>
                      </m:rPr>
                      <m:t>N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≈</m:t>
                    </m:r>
                    <m:r>
                      <m:rPr>
                        <m:sty m:val="b"/>
                      </m:rPr>
                      <m:t>14</m:t>
                    </m:r>
                  </m:oMath>
                </a14:m>
                <a:r>
                  <a:rPr/>
                  <a:t> dB).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FIR (1/4) — Fundamento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FIR = respuesta al impulso </a:t>
                </a:r>
                <a:r>
                  <a:rPr b="1"/>
                  <a:t>finita</a:t>
                </a:r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taps, </a:t>
                </a:r>
                <a:r>
                  <a:rPr b="1"/>
                  <a:t>solo ceros</a:t>
                </a:r>
                <a:r>
                  <a:rPr/>
                  <a:t>, </a:t>
                </a:r>
                <a:r>
                  <a:rPr b="1"/>
                  <a:t>incondicionalmente estable</a:t>
                </a:r>
                <a:r>
                  <a:rPr/>
                  <a:t>.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h</m:t>
                          </m:r>
                        </m:e>
                      </m:nary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t> 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h</m:t>
                          </m:r>
                        </m:e>
                      </m:nary>
                      <m:r>
                        <m:rPr>
                          <m:sty m:val="p"/>
                        </m:rPr>
                        <m:t>[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t> 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k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Fase lineal</a:t>
                </a:r>
                <a:r>
                  <a:rPr/>
                  <a:t> ⇔ coeficientes </a:t>
                </a:r>
                <a:r>
                  <a:rPr b="1"/>
                  <a:t>simétricos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h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n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(Tipo I,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par).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j</m:t>
                          </m:r>
                          <m:r>
                            <m:t>ω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j</m:t>
                          </m:r>
                          <m:r>
                            <m:t>ω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</m:sup>
                      </m:sSup>
                      <m:r>
                        <m:t>A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ω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cr m:val="double-struck"/>
                          <m:sty m:val="p"/>
                        </m:rPr>
                        <m:t>R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 </m:t>
                      </m:r>
                      <m:sSub>
                        <m:e>
                          <m:r>
                            <m:t>τ</m:t>
                          </m:r>
                        </m:e>
                        <m:sub>
                          <m: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 </m:t>
                      </m:r>
                      <m:r>
                        <m:rPr>
                          <m:nor/>
                          <m:sty m:val="p"/>
                        </m:rPr>
                        <m:t>(constante)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FIR (2/4) — Método de ventanas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Sinc ideal truncada y suavizada con ventana → reduce el </a:t>
                </a:r>
                <a:r>
                  <a:rPr b="1"/>
                  <a:t>fenómeno de Gibbs</a:t>
                </a:r>
                <a:r>
                  <a:rPr/>
                  <a:t>.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sin</m:t>
                                  </m:r>
                                  <m:r>
                                    <m:t>​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t>c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f>
                                        <m:fPr>
                                          <m:type m:val="lin"/>
                                        </m:fPr>
                                        <m:num>
                                          <m:r>
                                            <m:t>N</m:t>
                                          </m:r>
                                        </m:num>
                                        <m:den>
                                          <m: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t>π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f>
                                    <m:fPr>
                                      <m:type m:val="lin"/>
                                    </m:fPr>
                                    <m:num>
                                      <m:r>
                                        <m:t>N</m:t>
                                      </m:r>
                                    </m:num>
                                    <m:den>
                                      <m: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den>
                              </m:f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sinc ideal</m:t>
                          </m:r>
                        </m:lim>
                      </m:limLow>
                      <m:r>
                        <m:rPr>
                          <m:sty m:val="p"/>
                        </m:rPr>
                        <m:t>⋅</m:t>
                      </m:r>
                      <m:limLow>
                        <m:e>
                          <m:limLow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54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46</m:t>
                                  </m:r>
                                  <m:r>
                                    <m:rPr>
                                      <m:sty m:val="p"/>
                                    </m:rPr>
                                    <m:t>cos</m:t>
                                  </m:r>
                                  <m:f>
                                    <m:fPr>
                                      <m:type m:val="lin"/>
                                    </m:fPr>
                                    <m:num>
                                      <m:r>
                                        <m:t>2</m:t>
                                      </m:r>
                                      <m:r>
                                        <m:t>π</m:t>
                                      </m:r>
                                      <m:r>
                                        <m:t>n</m:t>
                                      </m:r>
                                    </m:num>
                                    <m:den>
                                      <m:r>
                                        <m:t>N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Hamming</m:t>
                          </m:r>
                        </m:lim>
                      </m:limLow>
                    </m:oMath>
                  </m:oMathPara>
                </a14:m>
              </a:p>
              <a:p>
                <a:pPr lvl="0"/>
                <a:r>
                  <a:rPr b="1"/>
                  <a:t>Hamming</a:t>
                </a:r>
                <a:r>
                  <a:rPr/>
                  <a:t> elegida: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53</m:t>
                    </m:r>
                  </m:oMath>
                </a14:m>
                <a:r>
                  <a:rPr/>
                  <a:t> dB (defecto biomédico, supera los 40–50 dB requeridos).</a:t>
                </a:r>
              </a:p>
              <a:p>
                <a:pPr lvl="0"/>
                <a:r>
                  <a:rPr/>
                  <a:t>Compromiso: atenuación de lóbulos laterales ↔ ancho de transición.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FIR (3/4) — Orden y coeficientes (ECG)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Transición </a:t>
                </a:r>
                <a14:m>
                  <m:oMath xmlns:m="http://schemas.openxmlformats.org/officeDocument/2006/math">
                    <m:r>
                      <m:t>40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50</m:t>
                    </m:r>
                  </m:oMath>
                </a14:m>
                <a:r>
                  <a:rPr/>
                  <a:t> Hz 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Hz. Regla de Hamming: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N</m:t>
                      </m:r>
                      <m:r>
                        <m:rPr>
                          <m:sty m:val="p"/>
                        </m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m:t>Δ</m:t>
                          </m:r>
                          <m:r>
                            <m:t>f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500</m:t>
                          </m:r>
                        </m:num>
                        <m:den>
                          <m:r>
                            <m:t>10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165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 </m:t>
                      </m:r>
                      <m:borderBox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166</m:t>
                          </m:r>
                        </m:e>
                      </m:borderBox>
                      <m:r>
                        <m:t> </m:t>
                      </m:r>
                      <m:r>
                        <m:rPr>
                          <m:nor/>
                          <m:sty m:val="p"/>
                        </m:rPr>
                        <m:t>(par, Tipo I)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 </m:t>
                      </m:r>
                      <m:r>
                        <m:t> </m:t>
                      </m:r>
                      <m:r>
                        <m:t>167</m:t>
                      </m:r>
                      <m:r>
                        <m:t> </m:t>
                      </m:r>
                      <m:r>
                        <m:rPr>
                          <m:nor/>
                          <m:sty m:val="p"/>
                        </m:rPr>
                        <m:t>coef.</m:t>
                      </m:r>
                    </m:oMath>
                  </m:oMathPara>
                </a14:m>
              </a:p>
              <a:p>
                <a:pPr lvl="0"/>
                <a:r>
                  <a:rPr/>
                  <a:t>Corte de diseño centrado: </a:t>
                </a:r>
                <a14:m>
                  <m:oMath xmlns:m="http://schemas.openxmlformats.org/officeDocument/2006/math">
                    <m:sSubSup>
                      <m:e>
                        <m:r>
                          <m:t>f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t>45</m:t>
                    </m:r>
                  </m:oMath>
                </a14:m>
                <a:r>
                  <a:rPr/>
                  <a:t> Hz ⇒ </a:t>
                </a:r>
                <a14:m>
                  <m:oMath xmlns:m="http://schemas.openxmlformats.org/officeDocument/2006/math">
                    <m:sSub>
                      <m:e>
                        <m:r>
                          <m:t>ω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18</m:t>
                    </m:r>
                    <m:r>
                      <m:t>π</m:t>
                    </m:r>
                  </m:oMath>
                </a14:m>
                <a:r>
                  <a:rPr/>
                  <a:t>; pico central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[</m:t>
                    </m:r>
                    <m:r>
                      <m:t>83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18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Retardo de grupo: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  <m:r>
                      <m:rPr>
                        <m:sty m:val="p"/>
                      </m:rPr>
                      <m:t>=</m:t>
                    </m:r>
                    <m:r>
                      <m:t>83</m:t>
                    </m:r>
                  </m:oMath>
                </a14:m>
                <a:r>
                  <a:rPr/>
                  <a:t> muestras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b"/>
                      </m:rPr>
                      <m:t>166</m:t>
                    </m:r>
                    <m:r>
                      <m:rPr>
                        <m:sty m:val="b"/>
                      </m:rPr>
                      <m:t> </m:t>
                    </m:r>
                    <m:r>
                      <m:rPr>
                        <m:sty m:val="bi"/>
                      </m:rPr>
                      <m:t>m</m:t>
                    </m:r>
                    <m:r>
                      <m:rPr>
                        <m:sty m:val="bi"/>
                      </m:rPr>
                      <m:t>s</m:t>
                    </m:r>
                  </m:oMath>
                </a14:m>
                <a:r>
                  <a:rPr/>
                  <a:t>, constante.</a:t>
                </a:r>
              </a:p>
              <a:p>
                <a:pPr lvl="0"/>
                <a:r>
                  <a:rPr/>
                  <a:t>Verificación cruzada Kaiser (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53</m:t>
                    </m:r>
                  </m:oMath>
                </a14:m>
                <a:r>
                  <a:rPr/>
                  <a:t>):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157</m:t>
                    </m:r>
                  </m:oMath>
                </a14:m>
                <a:r>
                  <a:rPr/>
                  <a:t> (mismo orden de magnitud).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FIR (4/4) — Respuesta y verificación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k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t>h</m:t>
                        </m:r>
                      </m:e>
                    </m:nary>
                    <m:r>
                      <m:rPr>
                        <m:sty m:val="p"/>
                      </m:rPr>
                      <m:t>[</m:t>
                    </m:r>
                    <m:r>
                      <m:t>k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H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j</m:t>
                        </m:r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1</m:t>
                    </m:r>
                  </m:oMath>
                </a14:m>
                <a:r>
                  <a:rPr/>
                  <a:t> (ganancia DC unitaria).</a:t>
                </a:r>
              </a:p>
              <a:p>
                <a:pPr lvl="0"/>
                <a:r>
                  <a:rPr/>
                  <a:t>Polos en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; ceros en </a:t>
                </a:r>
                <a:r>
                  <a:rPr b="1"/>
                  <a:t>cuádruplas recíprocas conjugadas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Coste: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167</m:t>
                    </m:r>
                  </m:oMath>
                </a14:m>
                <a:r>
                  <a:rPr/>
                  <a:t> MACs/muestra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83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</m:t>
                    </m:r>
                  </m:oMath>
                </a14:m>
                <a:r>
                  <a:rPr/>
                  <a:t> kMAC/s a 500 Hz → viable en ESP32, </a:t>
                </a:r>
                <a:r>
                  <a:rPr b="1"/>
                  <a:t>inviable en Arduino UNO</a:t>
                </a:r>
                <a:r>
                  <a:rPr/>
                  <a:t> en punto fijo.</a:t>
                </a:r>
              </a:p>
              <a:p>
                <a:pPr lvl="0" indent="0" marL="0">
                  <a:buNone/>
                </a:pPr>
                <a:r>
                  <a:rPr/>
                  <a:t>[Figura: respuesta en frecuencia FIR — magnitud dB + fase lineal] [Figura: respuesta al impulso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simétrica y retardo de grupo plano]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IIR (1/4) — Fundamento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IIR = </a:t>
                </a:r>
                <a:r>
                  <a:rPr b="1"/>
                  <a:t>recursivo</a:t>
                </a:r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infinita; orden bajo pero </a:t>
                </a:r>
                <a:r>
                  <a:rPr b="1"/>
                  <a:t>fase no lineal</a:t>
                </a:r>
                <a:r>
                  <a:rPr/>
                  <a:t>.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0</m:t>
                          </m:r>
                        </m:sub>
                        <m:sup>
                          <m:r>
                            <m:t>M</m:t>
                          </m:r>
                        </m:sup>
                        <m:e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−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a</m:t>
                              </m:r>
                            </m:e>
                            <m:sub>
                              <m:r>
                                <m:t>k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z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z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Se parte de un </a:t>
                </a:r>
                <a:r>
                  <a:rPr b="1"/>
                  <a:t>prototipo analógico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s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y se aplica la </a:t>
                </a:r>
                <a:r>
                  <a:rPr b="1"/>
                  <a:t>transformada bilineal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Estabilidad:</a:t>
                </a:r>
                <a:r>
                  <a:rPr/>
                  <a:t> todos los polos dentro del círculo unitario,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IIR (2/4) — Bilineal y prewarping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p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Ω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diseño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2</m:t>
                          </m:r>
                        </m:num>
                        <m:den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tan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m:t>deseado</m:t>
                                  </m:r>
                                </m:sub>
                              </m:sSub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La bilineal mapea el semiplano izquierdo al interior del círculo → </a:t>
                </a:r>
                <a:r>
                  <a:rPr b="1"/>
                  <a:t>prototipo estable ⇒ IIR estable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El </a:t>
                </a:r>
                <a:r>
                  <a:rPr b="1"/>
                  <a:t>warping</a:t>
                </a:r>
                <a:r>
                  <a:rPr/>
                  <a:t> es no lineal → se </a:t>
                </a:r>
                <a:r>
                  <a:rPr b="1"/>
                  <a:t>predistorsionan</a:t>
                </a:r>
                <a:r>
                  <a:rPr/>
                  <a:t> las frecuencias críticas antes de diseñar.</a:t>
                </a:r>
              </a:p>
              <a:p>
                <a:pPr lvl="0"/>
                <a:r>
                  <a:rPr/>
                  <a:t>Ejemplo: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256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76</m:t>
                    </m:r>
                  </m:oMath>
                </a14:m>
                <a:r>
                  <a:rPr/>
                  <a:t> rad/s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40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86</m:t>
                    </m:r>
                  </m:oMath>
                </a14:m>
                <a:r>
                  <a:rPr/>
                  <a:t> Hz),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Ω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395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93</m:t>
                    </m:r>
                  </m:oMath>
                </a14:m>
                <a:r>
                  <a:rPr/>
                  <a:t> rad/s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63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01</m:t>
                    </m:r>
                  </m:oMath>
                </a14:m>
                <a:r>
                  <a:rPr/>
                  <a:t> Hz).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IIR (3/4) — Orden y cambio de prototipo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Máscara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  <a:r>
                  <a:rPr/>
                  <a:t> dB. Butterworth: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N</m:t>
                      </m:r>
                      <m:r>
                        <m:rPr>
                          <m:sty m:val="p"/>
                        </m:rPr>
                        <m:t>≥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</m:e>
                            <m:sub>
                              <m:r>
                                <m:t>10</m:t>
                              </m:r>
                            </m:sub>
                          </m:sSub>
                          <m:r>
                            <m:t>​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m:t>10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m:t>A</m:t>
                                      </m:r>
                                    </m:e>
                                    <m:sub>
                                      <m:r>
                                        <m:t>s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/</m:t>
                                  </m:r>
                                  <m:r>
                                    <m:t>10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num>
                            <m:den>
                              <m:sSup>
                                <m:e>
                                  <m:r>
                                    <m:t>10</m:t>
                                  </m:r>
                                </m:e>
                                <m:sup>
                                  <m:sSub>
                                    <m:e>
                                      <m:r>
                                        <m:t>R</m:t>
                                      </m:r>
                                    </m:e>
                                    <m:sub>
                                      <m: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/</m:t>
                                  </m:r>
                                  <m:r>
                                    <m:t>10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num>
                        <m:den>
                          <m:r>
                            <m:t>2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</m:e>
                            <m:sub>
                              <m:r>
                                <m:t>10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Ω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/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Ω</m:t>
                              </m:r>
                            </m:e>
                            <m:sub>
                              <m: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4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5868</m:t>
                          </m:r>
                        </m:num>
                        <m:den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3762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12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19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 </m:t>
                      </m:r>
                      <m:borderBox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13</m:t>
                          </m:r>
                        </m:e>
                      </m:borderBox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</m:t>
                    </m:r>
                  </m:oMath>
                </a14:m>
                <a:r>
                  <a:rPr/>
                  <a:t> es </a:t>
                </a:r>
                <a:r>
                  <a:rPr b="1"/>
                  <a:t>altísimo</a:t>
                </a:r>
                <a:r>
                  <a:rPr/>
                  <a:t> (transición exigente para Butterworth). Decisiones:</a:t>
                </a:r>
              </a:p>
              <a:p>
                <a:pPr lvl="1"/>
                <a:r>
                  <a:rPr b="1"/>
                  <a:t>Chebyshev I</a:t>
                </a:r>
                <a:r>
                  <a:rPr/>
                  <a:t> →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6</m:t>
                    </m:r>
                  </m:oMath>
                </a14:m>
                <a:r>
                  <a:rPr/>
                  <a:t> · </a:t>
                </a:r>
                <a:r>
                  <a:rPr b="1"/>
                  <a:t>Elíptico</a:t>
                </a:r>
                <a:r>
                  <a:rPr/>
                  <a:t> →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4</m:t>
                    </m:r>
                  </m:oMath>
                </a14:m>
                <a:r>
                  <a:rPr/>
                  <a:t> (misma máscara).</a:t>
                </a:r>
              </a:p>
              <a:p>
                <a:pPr lvl="1"/>
                <a:r>
                  <a:rPr/>
                  <a:t>Orden alto ⇒ </a:t>
                </a:r>
                <a:r>
                  <a:rPr b="1"/>
                  <a:t>obligatorio SOS</a:t>
                </a:r>
                <a:r>
                  <a:rPr/>
                  <a:t> (cascada de biquads).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Diseño IIR (4/4) — SOS, notch y estabilidad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g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i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b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b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  <m:r>
                                    <m:t>i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t>z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b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  <m:r>
                                    <m:t>i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t>z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a</m:t>
                                  </m:r>
                                </m:e>
                                <m:sub>
                                  <m:r>
                                    <m:t>1</m:t>
                                  </m:r>
                                  <m:r>
                                    <m:t>i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t>z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m:t>a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  <m:r>
                                    <m:t>i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m:t>z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lvl="0"/>
                <a:r>
                  <a:rPr b="1"/>
                  <a:t>SOS:</a:t>
                </a:r>
                <a:r>
                  <a:rPr/>
                  <a:t> cada par polo/cero se cuantiza por separado → baja sensibilidad (problema de Wilkinson).</a:t>
                </a:r>
              </a:p>
              <a:p>
                <a:pPr lvl="0"/>
                <a:r>
                  <a:rPr b="1"/>
                  <a:t>Notch 50 Hz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ω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t>π</m:t>
                    </m:r>
                  </m:oMath>
                </a14:m>
                <a:r>
                  <a:rPr/>
                  <a:t>): ceros en el círculo, polos a radio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∈</m:t>
                    </m:r>
                    <m:r>
                      <m:rPr>
                        <m:sty m:val="p"/>
                      </m:rPr>
                      <m:t>[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95</m:t>
                    </m:r>
                    <m:r>
                      <m:rPr>
                        <m:sty m:val="p"/>
                      </m:rPr>
                      <m:t>;</m:t>
                    </m:r>
                    <m:r>
                      <m:t>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99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notch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cos</m:t>
                          </m:r>
                          <m:sSub>
                            <m:e>
                              <m:r>
                                <m:t>ω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t> 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2</m:t>
                          </m:r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cos</m:t>
                          </m:r>
                          <m:sSub>
                            <m:e>
                              <m:r>
                                <m:t>ω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t> </m:t>
                          </m:r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r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m:t>z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[Figura: respuesta en frecuencia IIR + diagrama polos-ceros (zplane)]</a:t>
                </a:r>
              </a:p>
            </p:txBody>
          </p:sp>
        </mc:Choice>
      </mc:AlternateContent>
    </p:spTree>
  </p:cSld>
</p:sld>
</file>

<file path=ppt/slides/slide1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Comparación FIR vs IIR (caso ECG)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Métrica</a:t></a:r></a:p></a:txBody><a:tcPr /></a:tc><a:tc><a:txBody><a:bodyPr /><a:lstStyle /><a:p><a:pPr lvl="0" indent="0" marL="0"><a:buNone /></a:pPr><a:r><a:rPr b="1" /><a:t>FIR (Hamming)</a:t></a:r></a:p></a:txBody><a:tcPr /></a:tc><a:tc><a:txBody><a:bodyPr /><a:lstStyle /><a:p><a:pPr lvl="0" indent="0" marL="0"><a:buNone /></a:pPr><a:r><a:rPr b="1" /><a:t>IIR (SOS)</a:t></a:r></a:p></a:txBody><a:tcPr /></a:tc></a:tr><a:tr h="0"><a:tc><a:txBody><a:bodyPr /><a:lstStyle /><a:p><a:pPr lvl="0" indent="0" marL="0"><a:buNone /></a:pPr><a:r><a:rPr /><a:t>Orden </a:t></a:r><a14:m><m:oMath xmlns:m="http://schemas.openxmlformats.org/officeDocument/2006/math"><m:r><m:t>N</m:t></m:r></m:oMath></a14:m></a:p></a:txBody></a:tc><a:tc><a:txBody><a:bodyPr /><a:lstStyle /><a:p><a:pPr lvl="0" indent="0" marL="0"><a:buNone /></a:pPr><a:r><a:rPr /><a:t>~166</a:t></a:r></a:p></a:txBody></a:tc><a:tc><a:txBody><a:bodyPr /><a:lstStyle /><a:p><a:pPr lvl="0" indent="0" marL="0"><a:buNone /></a:pPr><a:r><a:rPr /><a:t>4–6 (Butterworth=13)</a:t></a:r></a:p></a:txBody></a:tc></a:tr><a:tr h="0"><a:tc><a:txBody><a:bodyPr /><a:lstStyle /><a:p><a:pPr lvl="0" indent="0" marL="0"><a:buNone /></a:pPr><a:r><a:rPr /><a:t>MACs/muestra</a:t></a:r></a:p></a:txBody></a:tc><a:tc><a:txBody><a:bodyPr /><a:lstStyle /><a:p><a:pPr lvl="0" indent="0" marL="0"><a:buNone /></a:pPr><a:r><a:rPr /><a:t>~167</a:t></a:r></a:p></a:txBody></a:tc><a:tc><a:txBody><a:bodyPr /><a:lstStyle /><a:p><a:pPr lvl="0" indent="0" marL="0"><a:buNone /></a:pPr><a:r><a:rPr /><a:t>~10–15 (</a:t></a:r><a14:m><m:oMath xmlns:m="http://schemas.openxmlformats.org/officeDocument/2006/math"><m:r><m:t>5</m:t></m:r><m:r><m:t>S</m:t></m:r></m:oMath></a14:m><a:r><a:rPr /><a:t>)</a:t></a:r></a:p></a:txBody></a:tc></a:tr><a:tr h="0"><a:tc><a:txBody><a:bodyPr /><a:lstStyle /><a:p><a:pPr lvl="0" indent="0" marL="0"><a:buNone /></a:pPr><a:r><a:rPr /><a:t>Fase</a:t></a:r></a:p></a:txBody></a:tc><a:tc><a:txBody><a:bodyPr /><a:lstStyle /><a:p><a:pPr lvl="0" indent="0" marL="0"><a:buNone /></a:pPr><a:r><a:rPr b="1" /><a:t>Lineal exacta</a:t></a:r></a:p></a:txBody></a:tc><a:tc><a:txBody><a:bodyPr /><a:lstStyle /><a:p><a:pPr lvl="0" indent="0" marL="0"><a:buNone /></a:pPr><a:r><a:rPr /><a:t>No lineal</a:t></a:r></a:p></a:txBody></a:tc></a:tr><a:tr h="0"><a:tc><a:txBody><a:bodyPr /><a:lstStyle /><a:p><a:pPr lvl="0" indent="0" marL="0"><a:buNone /></a:pPr><a:r><a:rPr /><a:t>Retardo de grupo</a:t></a:r></a:p></a:txBody></a:tc><a:tc><a:txBody><a:bodyPr /><a:lstStyle /><a:p><a:pPr lvl="0" indent="0" marL="0"><a:buNone /></a:pPr><a:r><a:rPr /><a:t>Constante </a:t></a:r><a14:m><m:oMath xmlns:m="http://schemas.openxmlformats.org/officeDocument/2006/math"><m:r><m:rPr><m:sty m:val="p" /></m:rPr><m:t>=</m:t></m:r><m:r><m:t>83</m:t></m:r></m:oMath></a14:m><a:r><a:rPr /><a:t> muestras (166 ms)</a:t></a:r></a:p></a:txBody></a:tc><a:tc><a:txBody><a:bodyPr /><a:lstStyle /><a:p><a:pPr lvl="0" indent="0" marL="0"><a:buNone /></a:pPr><a:r><a:rPr /><a:t>Variable, menor en promedio</a:t></a:r></a:p></a:txBody></a:tc></a:tr><a:tr h="0"><a:tc><a:txBody><a:bodyPr /><a:lstStyle /><a:p><a:pPr lvl="0" indent="0" marL="0"><a:buNone /></a:pPr><a:r><a:rPr /><a:t>Memoria (float32)</a:t></a:r></a:p></a:txBody></a:tc><a:tc><a:txBody><a:bodyPr /><a:lstStyle /><a:p><a:pPr lvl="0" indent="0" marL="0"><a:buNone /></a:pPr><a14:m><m:oMath xmlns:m="http://schemas.openxmlformats.org/officeDocument/2006/math"><m:r><m:rPr><m:sty m:val="p" /></m:rPr><m:t>≈</m:t></m:r><m:r><m:t>1</m:t></m:r><m:r><m:rPr><m:sty m:val="p" /></m:rPr><m:t>,</m:t></m:r><m:r><m:t>3</m:t></m:r></m:oMath></a14:m><a:r><a:rPr /><a:t> kB</a:t></a:r></a:p></a:txBody></a:tc><a:tc><a:txBody><a:bodyPr /><a:lstStyle /><a:p><a:pPr lvl="0" indent="0" marL="0"><a:buNone /></a:pPr><a14:m><m:oMath xmlns:m="http://schemas.openxmlformats.org/officeDocument/2006/math"><m:r><m:rPr><m:sty m:val="p" /></m:rPr><m:t>≈</m:t></m:r><m:r><m:t>100</m:t></m:r></m:oMath></a14:m><a:r><a:rPr /><a:t> B</a:t></a:r></a:p></a:txBody></a:tc></a:tr><a:tr h="0"><a:tc><a:txBody><a:bodyPr /><a:lstStyle /><a:p><a:pPr lvl="0" indent="0" marL="0"><a:buNone /></a:pPr><a:r><a:rPr /><a:t>Estabilidad</a:t></a:r></a:p></a:txBody></a:tc><a:tc><a:txBody><a:bodyPr /><a:lstStyle /><a:p><a:pPr lvl="0" indent="0" marL="0"><a:buNone /></a:pPr><a:r><a:rPr /><a:t>Siempre</a:t></a:r></a:p></a:txBody></a:tc><a:tc><a:txBody><a:bodyPr /><a:lstStyle /><a:p><a:pPr lvl="0" indent="0" marL="0"><a:buNone /></a:pPr><a:r><a:rPr /><a:t>Condicional (</a:t></a:r><a14:m><m:oMath xmlns:m="http://schemas.openxmlformats.org/officeDocument/2006/math"><m:r><m:rPr><m:sty m:val="p" /></m:rPr><m:t>|</m:t></m:r><m:r><m:t>z</m:t></m:r><m:r><m:rPr><m:sty m:val="p" /></m:rPr><m:t>|</m:t></m:r><m:r><m:rPr><m:sty m:val="p" /></m:rPr><m:t>&lt;</m:t></m:r><m:r><m:t>1</m:t></m:r></m:oMath></a14:m><a:r><a:rPr /><a:t>)</a:t></a:r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Comparación FIR vs IIR —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IIR</a:t>
            </a:r>
            <a:r>
              <a:rPr/>
              <a:t> es ~11× más barato en cómputo y ~14× en memoria.</a:t>
            </a:r>
          </a:p>
          <a:p>
            <a:pPr lvl="0"/>
            <a:r>
              <a:rPr b="1"/>
              <a:t>FIR</a:t>
            </a:r>
            <a:r>
              <a:rPr/>
              <a:t> es el único con </a:t>
            </a:r>
            <a:r>
              <a:rPr b="1"/>
              <a:t>fase lineal exacta</a:t>
            </a:r>
            <a:r>
              <a:rPr/>
              <a:t> → preserva la morfología P-QRS-T.</a:t>
            </a:r>
          </a:p>
          <a:p>
            <a:pPr lvl="0"/>
            <a:r>
              <a:rPr b="1"/>
              <a:t>Decisión:</a:t>
            </a:r>
            <a:r>
              <a:rPr/>
              <a:t> en ECG se </a:t>
            </a:r>
            <a:r>
              <a:rPr b="1"/>
              <a:t>acepta el coste del FIR</a:t>
            </a:r>
            <a:r>
              <a:rPr/>
              <a:t> para el LP; el notch sí se hace </a:t>
            </a:r>
            <a:r>
              <a:rPr b="1"/>
              <a:t>IIR</a:t>
            </a:r>
            <a:r>
              <a:rPr/>
              <a:t> (barato y la fase no es crítica ahí).</a:t>
            </a:r>
          </a:p>
          <a:p>
            <a:pPr lvl="0"/>
            <a:r>
              <a:rPr/>
              <a:t>Offline se puede usar IIR con </a:t>
            </a:r>
            <a:r>
              <a:rPr>
                <a:latin typeface="Courier"/>
              </a:rPr>
              <a:t>filtfilt</a:t>
            </a:r>
            <a:r>
              <a:rPr/>
              <a:t>/</a:t>
            </a:r>
            <a:r>
              <a:rPr>
                <a:latin typeface="Courier"/>
              </a:rPr>
              <a:t>sosfiltfilt</a:t>
            </a:r>
            <a:r>
              <a:rPr/>
              <a:t> (fase cero).</a:t>
            </a:r>
          </a:p>
          <a:p>
            <a:pPr lvl="0" indent="0" marL="0">
              <a:buNone/>
            </a:pPr>
            <a:r>
              <a:rPr/>
              <a:t>[Figura: SNR/RMSE antes vs después + PSD con el pico de 50 Hz eliminado]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Agente de IA — Variables y reglas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Estrategia elegida: </a:t>
            </a:r>
            <a:r>
              <a:rPr sz="2000" b="1"/>
              <a:t>reglas IF-THEN</a:t>
            </a:r>
            <a:r>
              <a:rPr sz="2000"/>
              <a:t> (interpretable, determinista, embebible).</a:t>
            </a:r>
          </a:p>
          <a:p>
            <a:pPr lvl="0" indent="0" marL="0">
              <a:buNone/>
            </a:pPr>
            <a:r>
              <a:rPr b="1"/>
              <a:t>Entradas:</a:t>
            </a:r>
            <a:r>
              <a:rPr/>
              <a:t> </a:t>
            </a:r>
            <a:r>
              <a:rPr>
                <a:latin typeface="Courier"/>
              </a:rPr>
              <a:t>fs</a:t>
            </a:r>
            <a:r>
              <a:rPr/>
              <a:t>, </a:t>
            </a:r>
            <a:r>
              <a:rPr>
                <a:latin typeface="Courier"/>
              </a:rPr>
              <a:t>RAM</a:t>
            </a:r>
            <a:r>
              <a:rPr/>
              <a:t>, </a:t>
            </a:r>
            <a:r>
              <a:rPr>
                <a:latin typeface="Courier"/>
              </a:rPr>
              <a:t>MHz</a:t>
            </a:r>
            <a:r>
              <a:rPr/>
              <a:t>/</a:t>
            </a:r>
            <a:r>
              <a:rPr>
                <a:latin typeface="Courier"/>
              </a:rPr>
              <a:t>FPU</a:t>
            </a:r>
            <a:r>
              <a:rPr/>
              <a:t>, </a:t>
            </a:r>
            <a:r>
              <a:rPr>
                <a:latin typeface="Courier"/>
              </a:rPr>
              <a:t>fase_lineal</a:t>
            </a:r>
            <a:r>
              <a:rPr/>
              <a:t>, </a:t>
            </a:r>
            <a:r>
              <a:rPr>
                <a:latin typeface="Courier"/>
              </a:rPr>
              <a:t>SNR_in</a:t>
            </a:r>
            <a:r>
              <a:rPr/>
              <a:t>, </a:t>
            </a:r>
            <a:r>
              <a:rPr>
                <a:latin typeface="Courier"/>
              </a:rPr>
              <a:t>latencia</a:t>
            </a:r>
            <a:r>
              <a:rPr/>
              <a:t>, </a:t>
            </a:r>
            <a:r>
              <a:rPr>
                <a:latin typeface="Courier"/>
              </a:rPr>
              <a:t>transicion</a:t>
            </a:r>
            <a:r>
              <a:rPr/>
              <a:t>. </a:t>
            </a:r>
            <a:r>
              <a:rPr b="1"/>
              <a:t>Salidas:</a:t>
            </a:r>
            <a:r>
              <a:rPr/>
              <a:t> familia </a:t>
            </a:r>
            <a:r>
              <a:rPr>
                <a:latin typeface="Courier"/>
              </a:rPr>
              <a:t>{FIR, IIR}</a:t>
            </a:r>
            <a:r>
              <a:rPr/>
              <a:t> + estructura </a:t>
            </a:r>
            <a:r>
              <a:rPr>
                <a:latin typeface="Courier"/>
              </a:rPr>
              <a:t>{DF, SOS, ...}</a:t>
            </a:r>
            <a:r>
              <a:rPr/>
              <a:t> + reglas activadas + confianza.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ENTONCES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Conf.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fase_lineal == 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FIR</a:t>
                      </a:r>
                      <a:r>
                        <a:rPr/>
                        <a:t>, 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RAM&lt;2 kB</a:t>
                      </a:r>
                      <a:r>
                        <a:rPr/>
                        <a:t> Y </a:t>
                      </a:r>
                      <a:r>
                        <a:rPr>
                          <a:latin typeface="Courier"/>
                        </a:rPr>
                        <a:t>ordenFIR&gt;50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IIR</a:t>
                      </a:r>
                      <a:r>
                        <a:rPr/>
                        <a:t>, SOS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estabilidad crítica Y sin FPU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IIR</a:t>
                      </a:r>
                      <a:r>
                        <a:rPr/>
                        <a:t>, SOS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transicion</a:t>
                      </a:r>
                      <a:r>
                        <a:rPr/>
                        <a:t> estrecha Y cómputo 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IIR</a:t>
                      </a:r>
                      <a:r>
                        <a:rPr/>
                        <a:t> (Elíptico)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Agente de IA — Motor y validación (3 escenarios)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agente_reglas(h):</a:t>
            </a:r>
            <a:br/>
            <a:r>
              <a:rPr>
                <a:latin typeface="Courier"/>
              </a:rPr>
              <a:t>    rec, est, reglas,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 [],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"fase_lineal"</a:t>
            </a:r>
            <a:r>
              <a:rPr>
                <a:latin typeface="Courier"/>
              </a:rPr>
              <a:t>]:                       fijar(</a:t>
            </a:r>
            <a:r>
              <a:rPr>
                <a:solidFill>
                  <a:srgbClr val="4070A0"/>
                </a:solidFill>
                <a:latin typeface="Courier"/>
              </a:rPr>
              <a:t>"R1"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"FIR"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"DF"</a:t>
            </a:r>
            <a:r>
              <a:rPr>
                <a:latin typeface="Courier"/>
              </a:rPr>
              <a:t>, 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"RAM"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"ordenFIR"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:        fijar(</a:t>
            </a:r>
            <a:r>
              <a:rPr>
                <a:solidFill>
                  <a:srgbClr val="4070A0"/>
                </a:solidFill>
                <a:latin typeface="Courier"/>
              </a:rPr>
              <a:t>"R2"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"IIR"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"SOS"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0.90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"FPU"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"ordenFIR"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:      fijar(</a:t>
            </a:r>
            <a:r>
              <a:rPr>
                <a:solidFill>
                  <a:srgbClr val="4070A0"/>
                </a:solidFill>
                <a:latin typeface="Courier"/>
              </a:rPr>
              <a:t>"R3"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"IIR"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"SOS"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0.90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"transicion"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70A0"/>
                </a:solidFill>
                <a:latin typeface="Courier"/>
              </a:rPr>
              <a:t>"estrecha"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h[</a:t>
            </a:r>
            <a:r>
              <a:rPr>
                <a:solidFill>
                  <a:srgbClr val="4070A0"/>
                </a:solidFill>
                <a:latin typeface="Courier"/>
              </a:rPr>
              <a:t>"FPU"</a:t>
            </a:r>
            <a:r>
              <a:rPr>
                <a:latin typeface="Courier"/>
              </a:rPr>
              <a:t>]: fijar(</a:t>
            </a:r>
            <a:r>
              <a:rPr>
                <a:solidFill>
                  <a:srgbClr val="4070A0"/>
                </a:solidFill>
                <a:latin typeface="Courier"/>
              </a:rPr>
              <a:t>"R4"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"IIR"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"SOS"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0.85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rec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"FIR"</a:t>
            </a:r>
            <a:r>
              <a:rPr>
                <a:latin typeface="Courier"/>
              </a:rPr>
              <a:t>, est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"DF"</a:t>
            </a:r>
            <a:r>
              <a:rPr>
                <a:latin typeface="Courier"/>
              </a:rPr>
              <a:t>, reglas, conf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Entrada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Regla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(a) ECG diagnóstico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fase lineal, FPU, transición amplia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FIR / 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(b) Arduino UNO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kB RAM, FIR&gt;50, sin FPU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IIR / SOS (Q15)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R2, R3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(c) ESP32 transición exigente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transición estrecha, FPU ≥160 MHz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IIR (Elíptico) / SOS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Agente de IA — Otras estrategias (panorama)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Las cuatro restantes se detallan en la entrega Python; el LLM es útil </a:t>
            </a:r>
            <a:r>
              <a:rPr sz="2000" b="1"/>
              <a:t>en fase de diseño</a:t>
            </a:r>
            <a:r>
              <a:rPr sz="2000"/>
              <a:t>, no en el micro.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Estrategia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Embebible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Reglas IF-THEN</a:t>
                      </a:r>
                      <a:r>
                        <a:rPr/>
                        <a:t> (elegida)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Elicitación 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Excelente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Árbol de decisión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fit</a:t>
                      </a:r>
                      <a:r>
                        <a:rPr/>
                        <a:t> (Gini/entropía)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Buena (→ if/else)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Lógica difusa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MF + Mamdani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LLM (Claude)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Prompt + JSON validado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Nula (online)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Backprop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Sí (más)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Baja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Implementación embebida — Plataforma ESP32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ESP32:</a:t>
                </a:r>
                <a:r>
                  <a:rPr/>
                  <a:t> 160–240 MHz, RAM 320 kB+, </a:t>
                </a:r>
                <a:r>
                  <a:rPr b="1"/>
                  <a:t>FPU por hardware</a:t>
                </a:r>
                <a:r>
                  <a:rPr/>
                  <a:t> → </a:t>
                </a:r>
                <a:r>
                  <a:rPr b="1"/>
                  <a:t>float32</a:t>
                </a:r>
                <a:r>
                  <a:rPr/>
                  <a:t> directo.</a:t>
                </a:r>
              </a:p>
              <a:p>
                <a:pPr lvl="0"/>
                <a:r>
                  <a:rPr/>
                  <a:t>A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500</m:t>
                    </m:r>
                  </m:oMath>
                </a14:m>
                <a:r>
                  <a:rPr/>
                  <a:t> Hz hay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 ms/muestra 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480</m:t>
                    </m:r>
                    <m:r>
                      <m:t> </m:t>
                    </m:r>
                    <m:r>
                      <m:t>000</m:t>
                    </m:r>
                  </m:oMath>
                </a14:m>
                <a:r>
                  <a:rPr/>
                  <a:t> ciclos disponibles.</a:t>
                </a:r>
              </a:p>
              <a:p>
                <a:pPr lvl="0"/>
                <a:r>
                  <a:rPr/>
                  <a:t>Presupuesto: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MACs</m:t>
                    </m:r>
                    <m:r>
                      <m:rPr>
                        <m:sty m:val="p"/>
                      </m:rPr>
                      <m:t>⋅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≪</m:t>
                    </m:r>
                  </m:oMath>
                </a14:m>
                <a:r>
                  <a:rPr/>
                  <a:t> MAC/s, dejando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≥</m:t>
                    </m:r>
                    <m:r>
                      <m:t>50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de margen para ADC/ISR/jitter.</a:t>
                </a:r>
              </a:p>
              <a:p>
                <a:pPr lvl="1"/>
                <a:r>
                  <a:rPr/>
                  <a:t>FIR 167 MACs → 83,5 kMAC/s · Notch IIR ~5 MACs → holgura amplia.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Plataforma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Aritmética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Filtro recomendado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Arduino UNO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IIR orden bajo (SOS)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ESP32 / STM32F4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Float32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FIR alto</a:t>
                      </a:r>
                      <a:r>
                        <a:rPr/>
                        <a:t> o IIR libre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Implementación embebida — Diagrama de bloques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ADC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timer-ISR </m:t>
                          </m:r>
                          <m:sSub>
                            <m:e>
                              <m:r>
                                <m:t>f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</m:lim>
                      </m:limUpp>
                      <m:r>
                        <m:rPr>
                          <m:nor/>
                          <m:sty m:val="p"/>
                        </m:rPr>
                        <m:t>buffer circular</m:t>
                      </m:r>
                      <m:r>
                        <m:rPr>
                          <m:sty m:val="p"/>
                        </m:rPr>
                        <m:t>→</m:t>
                      </m:r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Notch IIR</m:t>
                          </m:r>
                        </m:e>
                      </m:borderBox>
                      <m:r>
                        <m:rPr>
                          <m:sty m:val="p"/>
                        </m:rPr>
                        <m:t>→</m:t>
                      </m:r>
                      <m:borderBox>
                        <m:e>
                          <m:r>
                            <m:rPr>
                              <m:nor/>
                              <m:sty m:val="p"/>
                            </m:rPr>
                            <m:t>LP FIR</m:t>
                          </m:r>
                        </m:e>
                      </m:borderBox>
                      <m:r>
                        <m:rPr>
                          <m:sty m:val="p"/>
                        </m:rPr>
                        <m:t>→</m:t>
                      </m:r>
                      <m:r>
                        <m:rPr>
                          <m:nor/>
                          <m:sty m:val="p"/>
                        </m:rPr>
                        <m:t>salida</m:t>
                      </m:r>
                    </m:oMath>
                  </m:oMathPara>
                </a14:m>
              </a:p>
              <a:p>
                <a:pPr lvl="0"/>
                <a:r>
                  <a:rPr b="1"/>
                  <a:t>Adquisición:</a:t>
                </a:r>
                <a:r>
                  <a:rPr/>
                  <a:t> interrupción por </a:t>
                </a:r>
                <a:r>
                  <a:rPr b="1"/>
                  <a:t>timer</a:t>
                </a:r>
                <a:r>
                  <a:rPr/>
                  <a:t> (garantiza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s</m:t>
                        </m:r>
                      </m:sub>
                    </m:sSub>
                  </m:oMath>
                </a14:m>
                <a:r>
                  <a:rPr/>
                  <a:t> exacto) o DMA (máximo determinismo).</a:t>
                </a:r>
              </a:p>
              <a:p>
                <a:pPr lvl="0"/>
                <a:r>
                  <a:rPr b="1"/>
                  <a:t>Buffer circular:</a:t>
                </a:r>
                <a:r>
                  <a:rPr/>
                  <a:t> línea de retardo natural para la convolución FIR.</a:t>
                </a:r>
              </a:p>
              <a:p>
                <a:pPr lvl="0"/>
                <a:r>
                  <a:rPr b="1"/>
                  <a:t>Latencia: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lat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2</m:t>
                        </m:r>
                      </m:num>
                      <m:den>
                        <m:sSub>
                          <m:e>
                            <m:r>
                              <m:t>f</m:t>
                            </m:r>
                          </m:e>
                          <m:sub>
                            <m:r>
                              <m:t>s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cómputo</m:t>
                        </m:r>
                      </m:sub>
                    </m:sSub>
                  </m:oMath>
                </a14:m>
                <a:r>
                  <a:rPr/>
                  <a:t> (en FIR domina el retardo de grupo).</a:t>
                </a:r>
              </a:p>
              <a:p>
                <a:pPr lvl="0" indent="0" marL="0">
                  <a:buNone/>
                </a:pPr>
                <a:r>
                  <a:rPr/>
                  <a:t>[Figura: diagrama de bloques ESP32 — ADC → ISR → buffer → filtros → DAC/UART]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Implementación embebida — Código (núcleo float32)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SOS biquad (Direct-Form II transpuesta) — Notch IIR 50 Hz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biquad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z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z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br/>
            <a:r>
              <a:rPr>
                <a:latin typeface="Courier"/>
              </a:rPr>
              <a:t>    z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y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z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br/>
            <a:r>
              <a:rPr>
                <a:latin typeface="Courier"/>
              </a:rPr>
              <a:t>    z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FIR LP fase lineal con buffer circular (167 taps)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fir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buf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idx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buf</a:t>
            </a:r>
            <a:r>
              <a:rPr>
                <a:solidFill>
                  <a:srgbClr val="666666"/>
                </a:solidFill>
                <a:latin typeface="Courier"/>
              </a:rPr>
              <a:t>[*</a:t>
            </a:r>
            <a:r>
              <a:rPr>
                <a:latin typeface="Courier"/>
              </a:rPr>
              <a:t>idx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acc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solidFill>
                  <a:srgbClr val="008000"/>
                </a:solidFill>
                <a:latin typeface="Courier"/>
              </a:rPr>
              <a:t>f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idx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</a:t>
            </a:r>
            <a:r>
              <a:rPr>
                <a:solidFill>
                  <a:srgbClr val="666666"/>
                </a:solidFill>
                <a:latin typeface="Courier"/>
              </a:rPr>
              <a:t>++)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acc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i</a:t>
            </a:r>
            <a:r>
              <a:rPr>
                <a:solidFill>
                  <a:srgbClr val="666666"/>
                </a:solidFill>
                <a:latin typeface="Courier"/>
              </a:rPr>
              <a:t>]*</a:t>
            </a:r>
            <a:r>
              <a:rPr>
                <a:latin typeface="Courier"/>
              </a:rPr>
              <a:t>buf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];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k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(*</a:t>
            </a:r>
            <a:r>
              <a:rPr>
                <a:latin typeface="Courier"/>
              </a:rPr>
              <a:t>idx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latin typeface="Courier"/>
              </a:rPr>
              <a:t> 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acc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1270000">
              <a:buNone/>
            </a:pPr>
            <a:r>
              <a:rPr sz="2000"/>
              <a:t>En Arduino UNO (sin FPU) se usaría </a:t>
            </a:r>
            <a:r>
              <a:rPr sz="2000" b="1"/>
              <a:t>Q15</a:t>
            </a:r>
            <a:r>
              <a:rPr sz="2000"/>
              <a:t> con acumulador de 32 bits y aritmética saturante.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Implementación embebida — Prueba y errores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Validación:</a:t>
                </a:r>
                <a:r>
                  <a:rPr/>
                  <a:t> inyectar el ECG simulado, comparar la salida del µC contra la simulación (</a:t>
                </a:r>
                <a:r>
                  <a:rPr>
                    <a:latin typeface="Courier"/>
                  </a:rPr>
                  <a:t>scipy</a:t>
                </a:r>
                <a:r>
                  <a:rPr/>
                  <a:t>/Octave) → SNR/RMSE coherentes (residuo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tras compensar el retardo).</a:t>
                </a:r>
              </a:p>
              <a:p>
                <a:pPr lvl="0"/>
                <a:r>
                  <a:rPr b="1"/>
                  <a:t>Fuentes de error:</a:t>
                </a:r>
              </a:p>
              <a:p>
                <a:pPr lvl="1"/>
                <a:r>
                  <a:rPr b="1"/>
                  <a:t>Cuantización</a:t>
                </a:r>
                <a:r>
                  <a:rPr/>
                  <a:t> del ADC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</m:t>
                    </m:r>
                    <m:r>
                      <m:rPr>
                        <m:sty m:val="p"/>
                      </m:rPr>
                      <m:t>Q</m:t>
                    </m:r>
                    <m:r>
                      <m:rPr>
                        <m:sty m:val="p"/>
                      </m:rPr>
                      <m:t>N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02</m:t>
                    </m:r>
                    <m:r>
                      <m:t>B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76</m:t>
                    </m:r>
                  </m:oMath>
                </a14:m>
                <a:r>
                  <a:rPr/>
                  <a:t> dB) y de coeficientes.</a:t>
                </a:r>
              </a:p>
              <a:p>
                <a:pPr lvl="1"/>
                <a:r>
                  <a:rPr b="1"/>
                  <a:t>Truncamiento/redondeo</a:t>
                </a:r>
                <a:r>
                  <a:rPr/>
                  <a:t> en punto fijo (usar SOS si IIR &gt; 2).</a:t>
                </a:r>
              </a:p>
              <a:p>
                <a:pPr lvl="1"/>
                <a:r>
                  <a:rPr b="1"/>
                  <a:t>Aliasing</a:t>
                </a:r>
                <a:r>
                  <a:rPr/>
                  <a:t> si falla el anti-aliasing analógico.</a:t>
                </a:r>
              </a:p>
              <a:p>
                <a:pPr lvl="1"/>
                <a:r>
                  <a:rPr b="1"/>
                  <a:t>Latencia/jitter</a:t>
                </a:r>
                <a:r>
                  <a:rPr/>
                  <a:t> del ISR.</a:t>
                </a:r>
              </a:p>
              <a:p>
                <a:pPr lvl="0" indent="0" marL="0">
                  <a:buNone/>
                </a:pPr>
                <a:r>
                  <a:rPr/>
                  <a:t>[Figura: ECG filtrado en el ESP32 vs simulación de referencia]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La cadena </a:t>
                </a:r>
                <a:r>
                  <a:rPr b="1"/>
                  <a:t>Notch IIR 50 Hz + LP FIR 40 Hz</a:t>
                </a:r>
                <a:r>
                  <a:rPr/>
                  <a:t> limpia el ECG preservando P-QRS-T.</a:t>
                </a:r>
              </a:p>
              <a:p>
                <a:pPr lvl="0"/>
                <a:r>
                  <a:rPr b="1"/>
                  <a:t>FIR (Hamming,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166</m:t>
                    </m:r>
                  </m:oMath>
                </a14:m>
                <a:r>
                  <a:rPr b="1"/>
                  <a:t>)</a:t>
                </a:r>
                <a:r>
                  <a:rPr/>
                  <a:t> elegido para el LP por </a:t>
                </a:r>
                <a:r>
                  <a:rPr b="1"/>
                  <a:t>fase lineal exacta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166</m:t>
                    </m:r>
                  </m:oMath>
                </a14:m>
                <a:r>
                  <a:rPr/>
                  <a:t> ms constante).</a:t>
                </a:r>
              </a:p>
              <a:p>
                <a:pPr lvl="0"/>
                <a:r>
                  <a:rPr b="1"/>
                  <a:t>IIR</a:t>
                </a:r>
                <a:r>
                  <a:rPr/>
                  <a:t> reservado al notch: mínimo coste y fase no crítica allí.</a:t>
                </a:r>
              </a:p>
              <a:p>
                <a:pPr lvl="0"/>
                <a:r>
                  <a:rPr/>
                  <a:t>El </a:t>
                </a:r>
                <a:r>
                  <a:rPr b="1"/>
                  <a:t>agente de reglas IF-THEN</a:t>
                </a:r>
                <a:r>
                  <a:rPr/>
                  <a:t> reproduce el criterio experto y es </a:t>
                </a:r>
                <a:r>
                  <a:rPr b="1"/>
                  <a:t>embebible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ESP32 con float32</a:t>
                </a:r>
                <a:r>
                  <a:rPr/>
                  <a:t> ejecuta ambas etapas con amplio margen de cómputo.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Recomendaciones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Tiempo real (µC):</a:t>
                </a:r>
                <a:r>
                  <a:rPr/>
                  <a:t> filtrado </a:t>
                </a:r>
                <a:r>
                  <a:rPr b="1"/>
                  <a:t>causal</a:t>
                </a:r>
                <a:r>
                  <a:rPr/>
                  <a:t> (</a:t>
                </a:r>
                <a:r>
                  <a:rPr>
                    <a:latin typeface="Courier"/>
                  </a:rPr>
                  <a:t>sosfilt</a:t>
                </a:r>
                <a:r>
                  <a:rPr/>
                  <a:t> + FIR), asumir el retardo de grupo.</a:t>
                </a:r>
              </a:p>
              <a:p>
                <a:pPr lvl="0"/>
                <a:r>
                  <a:rPr b="1"/>
                  <a:t>Análisis offline:</a:t>
                </a:r>
                <a:r>
                  <a:rPr/>
                  <a:t> usar </a:t>
                </a:r>
                <a:r>
                  <a:rPr>
                    <a:latin typeface="Courier"/>
                  </a:rPr>
                  <a:t>filtfilt</a:t>
                </a:r>
                <a:r>
                  <a:rPr/>
                  <a:t>/</a:t>
                </a:r>
                <a:r>
                  <a:rPr>
                    <a:latin typeface="Courier"/>
                  </a:rPr>
                  <a:t>sosfiltfilt</a:t>
                </a:r>
                <a:r>
                  <a:rPr/>
                  <a:t> (</a:t>
                </a:r>
                <a:r>
                  <a:rPr b="1"/>
                  <a:t>fase cero</a:t>
                </a:r>
                <a:r>
                  <a:rPr/>
                  <a:t>) para no deformar.</a:t>
                </a:r>
              </a:p>
              <a:p>
                <a:pPr lvl="0"/>
                <a:r>
                  <a:rPr b="1"/>
                  <a:t>Recursos escasos (Arduino):</a:t>
                </a:r>
                <a:r>
                  <a:rPr/>
                  <a:t> IIR de orden bajo en </a:t>
                </a:r>
                <a:r>
                  <a:rPr b="1"/>
                  <a:t>SOS Q15</a:t>
                </a:r>
                <a:r>
                  <a:rPr/>
                  <a:t>; FIR solo si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≲</m:t>
                    </m:r>
                    <m:r>
                      <m:t>20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Transición muy abrupta:</a:t>
                </a:r>
                <a:r>
                  <a:rPr/>
                  <a:t> IIR </a:t>
                </a:r>
                <a:r>
                  <a:rPr b="1"/>
                  <a:t>Elíptico</a:t>
                </a:r>
                <a:r>
                  <a:rPr/>
                  <a:t> (orden mínimo) si la fase no es crítica.</a:t>
                </a:r>
              </a:p>
              <a:p>
                <a:pPr lvl="0"/>
                <a:r>
                  <a:rPr/>
                  <a:t>Validar siempre el µC </a:t>
                </a:r>
                <a:r>
                  <a:rPr b="1"/>
                  <a:t>contra la simulación</a:t>
                </a:r>
                <a:r>
                  <a:rPr/>
                  <a:t> antes de desplegar.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Enunciado: </a:t>
            </a:r>
            <a:r>
              <a:rPr i="1"/>
              <a:t>Examen Parcial Integrador — Técnicas Digitales III — PDS / Filtrado Digital (2026)</a:t>
            </a:r>
            <a:r>
              <a:rPr/>
              <a:t>.</a:t>
            </a:r>
          </a:p>
          <a:p>
            <a:pPr lvl="0"/>
            <a:r>
              <a:rPr/>
              <a:t>Apuntes de la entrega: </a:t>
            </a:r>
            <a:r>
              <a:rPr>
                <a:latin typeface="Courier"/>
              </a:rPr>
              <a:t>entrega_octave/APUNTES_OCTAVE.md</a:t>
            </a:r>
            <a:r>
              <a:rPr/>
              <a:t>, </a:t>
            </a:r>
            <a:r>
              <a:rPr>
                <a:latin typeface="Courier"/>
              </a:rPr>
              <a:t>entrega_python/APUNTES_PYTHON.md</a:t>
            </a:r>
            <a:r>
              <a:rPr/>
              <a:t>.</a:t>
            </a:r>
          </a:p>
          <a:p>
            <a:pPr lvl="0"/>
            <a:r>
              <a:rPr/>
              <a:t>Knowledge Base: </a:t>
            </a:r>
            <a:r>
              <a:rPr>
                <a:latin typeface="Courier"/>
              </a:rPr>
              <a:t>_kb/01-fundamentos-pds.md</a:t>
            </a:r>
            <a:r>
              <a:rPr/>
              <a:t>, </a:t>
            </a:r>
            <a:r>
              <a:rPr>
                <a:latin typeface="Courier"/>
              </a:rPr>
              <a:t>02-fir.md</a:t>
            </a:r>
            <a:r>
              <a:rPr/>
              <a:t>, </a:t>
            </a:r>
            <a:r>
              <a:rPr>
                <a:latin typeface="Courier"/>
              </a:rPr>
              <a:t>03-iir.md</a:t>
            </a:r>
            <a:r>
              <a:rPr/>
              <a:t>, </a:t>
            </a:r>
            <a:r>
              <a:rPr>
                <a:latin typeface="Courier"/>
              </a:rPr>
              <a:t>04-criterios-diseno.md</a:t>
            </a:r>
            <a:r>
              <a:rPr/>
              <a:t>, </a:t>
            </a:r>
            <a:r>
              <a:rPr>
                <a:latin typeface="Courier"/>
              </a:rPr>
              <a:t>05-agente-ia.md</a:t>
            </a:r>
            <a:r>
              <a:rPr/>
              <a:t>.</a:t>
            </a:r>
          </a:p>
          <a:p>
            <a:pPr lvl="0"/>
            <a:r>
              <a:rPr/>
              <a:t>Oppenheim &amp; Schafer, </a:t>
            </a:r>
            <a:r>
              <a:rPr i="1"/>
              <a:t>Discrete-Time Signal Processing</a:t>
            </a:r>
            <a:r>
              <a:rPr/>
              <a:t>. Proakis &amp; Manolakis, </a:t>
            </a:r>
            <a:r>
              <a:rPr i="1"/>
              <a:t>Digital Signal Processing</a:t>
            </a:r>
            <a:r>
              <a:rPr/>
              <a:t>.</a:t>
            </a:r>
          </a:p>
          <a:p>
            <a:pPr lvl="0"/>
            <a:r>
              <a:rPr/>
              <a:t>Herramientas: Octave </a:t>
            </a:r>
            <a:r>
              <a:rPr>
                <a:latin typeface="Courier"/>
              </a:rPr>
              <a:t>signal</a:t>
            </a:r>
            <a:r>
              <a:rPr/>
              <a:t>, Python </a:t>
            </a:r>
            <a:r>
              <a:rPr>
                <a:latin typeface="Courier"/>
              </a:rPr>
              <a:t>scipy.signal</a:t>
            </a:r>
            <a:r>
              <a:rPr/>
              <a:t>, </a:t>
            </a:r>
            <a:r>
              <a:rPr>
                <a:latin typeface="Courier"/>
              </a:rPr>
              <a:t>scikit-learn</a:t>
            </a:r>
            <a:r>
              <a:rPr/>
              <a:t>, </a:t>
            </a:r>
            <a:r>
              <a:rPr>
                <a:latin typeface="Courier"/>
              </a:rPr>
              <a:t>scikit-fuzzy</a:t>
            </a:r>
            <a:r>
              <a:rPr/>
              <a:t>.</a:t>
            </a:r>
          </a:p>
          <a:p>
            <a:pPr lvl="0"/>
            <a:r>
              <a:rPr/>
              <a:t>Datasets: PhysioNet (MIT-BIH NSTDB </a:t>
            </a:r>
            <a:r>
              <a:rPr>
                <a:latin typeface="Courier"/>
              </a:rPr>
              <a:t>nstdb</a:t>
            </a:r>
            <a:r>
              <a:rPr/>
              <a:t>, MIT-BIH Arrhythmia </a:t>
            </a:r>
            <a:r>
              <a:rPr>
                <a:latin typeface="Courier"/>
              </a:rPr>
              <a:t>mitdb</a:t>
            </a:r>
            <a:r>
              <a:rPr/>
              <a:t>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2026-06-30T15:40:04Z</dcterms:created>
  <dcterms:modified xsi:type="dcterms:W3CDTF">2026-06-30T15:40:04Z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